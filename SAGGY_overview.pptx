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73152" cy="1097280"/>
          </a:xfrm>
          <a:prstGeom prst="rect">
            <a:avLst/>
          </a:prstGeom>
          <a:solidFill>
            <a:srgbClr val="C8F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8FF3E"/>
                </a:solidFill>
                <a:latin typeface="Consolas"/>
              </a:rPr>
              <a:t>GALAXY · VISIBILITY DIAGNOSTIC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Meet SAGGY.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7772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Calibri"/>
              </a:rPr>
              <a:t>Get your</a:t>
            </a:r>
          </a:p>
          <a:p>
            <a:pPr algn="l"/>
            <a:r>
              <a:rPr sz="6400" b="1">
                <a:solidFill>
                  <a:srgbClr val="FFFFFF"/>
                </a:solidFill>
                <a:latin typeface="Calibri"/>
              </a:rPr>
              <a:t>SAGGY Score.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520440"/>
            <a:ext cx="3200400" cy="164592"/>
          </a:xfrm>
          <a:prstGeom prst="rect">
            <a:avLst/>
          </a:prstGeom>
          <a:solidFill>
            <a:srgbClr val="C8F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7772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B8BECC"/>
                </a:solidFill>
                <a:latin typeface="Calibri"/>
              </a:rPr>
              <a:t>How visible is your dealership across SEO, AEO,</a:t>
            </a:r>
          </a:p>
          <a:p>
            <a:pPr algn="l"/>
            <a:r>
              <a:rPr sz="2000" b="0">
                <a:solidFill>
                  <a:srgbClr val="B8BECC"/>
                </a:solidFill>
                <a:latin typeface="Calibri"/>
              </a:rPr>
              <a:t>and Generative AI search?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2286000"/>
            <a:ext cx="1792224" cy="384048"/>
          </a:xfrm>
          <a:prstGeom prst="roundRect">
            <a:avLst>
              <a:gd name="adj" fmla="val 50000"/>
            </a:avLst>
          </a:prstGeom>
          <a:solidFill>
            <a:srgbClr val="C8F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100" b="1">
                <a:solidFill>
                  <a:srgbClr val="0A0F1F"/>
                </a:solidFill>
                <a:latin typeface="Consolas"/>
              </a:rPr>
              <a:t>10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2834640"/>
            <a:ext cx="2267712" cy="384048"/>
          </a:xfrm>
          <a:prstGeom prst="roundRect">
            <a:avLst>
              <a:gd name="adj" fmla="val 50000"/>
            </a:avLst>
          </a:prstGeom>
          <a:solidFill>
            <a:srgbClr val="C8F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100" b="1">
                <a:solidFill>
                  <a:srgbClr val="0A0F1F"/>
                </a:solidFill>
                <a:latin typeface="Consolas"/>
              </a:rPr>
              <a:t>UNDER 90 SECONDS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338328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C8F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100" b="1">
                <a:solidFill>
                  <a:srgbClr val="0A0F1F"/>
                </a:solidFill>
                <a:latin typeface="Consolas"/>
              </a:rPr>
              <a:t>ONE SCORE / 100</a:t>
            </a:r>
          </a:p>
        </p:txBody>
      </p:sp>
      <p:pic>
        <p:nvPicPr>
          <p:cNvPr id="12" name="Picture 11" descr="head sag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3931920"/>
            <a:ext cx="2377440" cy="23774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386"/>
                </a:solidFill>
                <a:latin typeface="Consolas"/>
              </a:rPr>
              <a:t>A3 BRANDS · GALAXY VISIBILITY DIAGNOSTIC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386"/>
                </a:solidFill>
                <a:latin typeface="Consolas"/>
              </a:rPr>
              <a:t>saggy score · seo · aeo · geo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8FF3E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Your dealership is invisible where buyers</a:t>
            </a:r>
          </a:p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actually search now.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3657600" cy="3017520"/>
          </a:xfrm>
          <a:prstGeom prst="roundRect">
            <a:avLst>
              <a:gd name="adj" fmla="val 6000"/>
            </a:avLst>
          </a:prstGeom>
          <a:solidFill>
            <a:srgbClr val="12182B"/>
          </a:solidFill>
          <a:ln w="12700">
            <a:solidFill>
              <a:srgbClr val="6B73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8FF3E"/>
                </a:solidFill>
                <a:latin typeface="Consolas"/>
              </a:rPr>
              <a:t>AI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11880"/>
            <a:ext cx="31089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Buyers ask ChatGPT, Gemini, and Perplexity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before they ever open Google.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743200"/>
            <a:ext cx="3657600" cy="3017520"/>
          </a:xfrm>
          <a:prstGeom prst="roundRect">
            <a:avLst>
              <a:gd name="adj" fmla="val 6000"/>
            </a:avLst>
          </a:prstGeom>
          <a:solidFill>
            <a:srgbClr val="12182B"/>
          </a:solidFill>
          <a:ln w="12700">
            <a:solidFill>
              <a:srgbClr val="6B73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30632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8FF3E"/>
                </a:solidFill>
                <a:latin typeface="Consolas"/>
              </a:rPr>
              <a:t>HIDDEN LEAKAGE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611880"/>
            <a:ext cx="31089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Leads slip out the back door of your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funnel — without your provider noticing.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743200"/>
            <a:ext cx="3657600" cy="3017520"/>
          </a:xfrm>
          <a:prstGeom prst="roundRect">
            <a:avLst>
              <a:gd name="adj" fmla="val 6000"/>
            </a:avLst>
          </a:prstGeom>
          <a:solidFill>
            <a:srgbClr val="12182B"/>
          </a:solidFill>
          <a:ln w="12700">
            <a:solidFill>
              <a:srgbClr val="6B73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30632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8FF3E"/>
                </a:solidFill>
                <a:latin typeface="Consolas"/>
              </a:rPr>
              <a:t>BLIND SPEND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611880"/>
            <a:ext cx="310896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Without close rate by source, every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budget call is a guess.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386"/>
                </a:solidFill>
                <a:latin typeface="Consolas"/>
              </a:rPr>
              <a:t>A3 BRANDS · GALAXY VISIBILITY DIAGNOSTIC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386"/>
                </a:solidFill>
                <a:latin typeface="Consolas"/>
              </a:rPr>
              <a:t>saggy score · seo · aeo · geo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8FF3E"/>
                </a:solidFill>
                <a:latin typeface="Consola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Three pillars. One score. 90 seconds.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3657600" cy="3657600"/>
          </a:xfrm>
          <a:prstGeom prst="roundRect">
            <a:avLst>
              <a:gd name="adj" fmla="val 6000"/>
            </a:avLst>
          </a:prstGeom>
          <a:solidFill>
            <a:srgbClr val="12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>
                <a:solidFill>
                  <a:srgbClr val="C8FF3E"/>
                </a:solidFill>
                <a:latin typeface="Calibri"/>
              </a:rPr>
              <a:t>SEO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Search Engine</a:t>
            </a:r>
          </a:p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2628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BECC"/>
                </a:solidFill>
                <a:latin typeface="Calibri"/>
              </a:rPr>
              <a:t>Classic ranking signals — schema, content depth, site architecture, crawlability.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406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386"/>
                </a:solidFill>
                <a:latin typeface="Consolas"/>
              </a:rPr>
              <a:t>scored out of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194560"/>
            <a:ext cx="3657600" cy="3657600"/>
          </a:xfrm>
          <a:prstGeom prst="roundRect">
            <a:avLst>
              <a:gd name="adj" fmla="val 6000"/>
            </a:avLst>
          </a:prstGeom>
          <a:solidFill>
            <a:srgbClr val="12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>
                <a:solidFill>
                  <a:srgbClr val="C8FF3E"/>
                </a:solidFill>
                <a:latin typeface="Calibri"/>
              </a:rPr>
              <a:t>AEO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7490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Answer Engine</a:t>
            </a:r>
          </a:p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Optimization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52628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BECC"/>
                </a:solidFill>
                <a:latin typeface="Calibri"/>
              </a:rPr>
              <a:t>Snippet eligibility, structured Q&amp;A, and review signals that win the answer box.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4406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386"/>
                </a:solidFill>
                <a:latin typeface="Consolas"/>
              </a:rPr>
              <a:t>scored out of 20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194560"/>
            <a:ext cx="3657600" cy="3657600"/>
          </a:xfrm>
          <a:prstGeom prst="roundRect">
            <a:avLst>
              <a:gd name="adj" fmla="val 6000"/>
            </a:avLst>
          </a:prstGeom>
          <a:solidFill>
            <a:srgbClr val="12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46888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>
                <a:solidFill>
                  <a:srgbClr val="C8FF3E"/>
                </a:solidFill>
                <a:latin typeface="Calibri"/>
              </a:rPr>
              <a:t>GEO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7490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Generative</a:t>
            </a:r>
          </a:p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AI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526280"/>
            <a:ext cx="31089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BECC"/>
                </a:solidFill>
                <a:latin typeface="Calibri"/>
              </a:rPr>
              <a:t>How often LLMs cite your inventory and brand when buyers ask in natural language.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54406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386"/>
                </a:solidFill>
                <a:latin typeface="Consolas"/>
              </a:rPr>
              <a:t>scored out of 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386"/>
                </a:solidFill>
                <a:latin typeface="Consolas"/>
              </a:rPr>
              <a:t>A3 BRANDS · GALAXY VISIBILITY DIAGNOSTIC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386"/>
                </a:solidFill>
                <a:latin typeface="Consolas"/>
              </a:rPr>
              <a:t>saggy score · seo · aeo · geo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8FF3E"/>
                </a:solidFill>
                <a:latin typeface="Consolas"/>
              </a:rPr>
              <a:t>WHAT YOU 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A score, a verdict, and the top 3 fixes.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5029200" cy="3657600"/>
          </a:xfrm>
          <a:prstGeom prst="roundRect">
            <a:avLst>
              <a:gd name="adj" fmla="val 6000"/>
            </a:avLst>
          </a:prstGeom>
          <a:solidFill>
            <a:srgbClr val="12182B"/>
          </a:solidFill>
          <a:ln w="12700">
            <a:solidFill>
              <a:srgbClr val="C8F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8FF3E"/>
                </a:solidFill>
                <a:latin typeface="Consolas"/>
              </a:rPr>
              <a:t>SAGGY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4572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78 /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C8FF3E"/>
                </a:solidFill>
                <a:latin typeface="Calibri"/>
              </a:rPr>
              <a:t>Orbit Builder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BECC"/>
                </a:solidFill>
                <a:latin typeface="Calibri"/>
              </a:rPr>
              <a:t>“Solid orbit. The fundamentals are there.</a:t>
            </a:r>
          </a:p>
          <a:p>
            <a:pPr algn="l"/>
            <a:r>
              <a:rPr sz="1200" b="0">
                <a:solidFill>
                  <a:srgbClr val="B8BECC"/>
                </a:solidFill>
                <a:latin typeface="Calibri"/>
              </a:rPr>
              <a:t>Leads are still slipping out the back door.”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19456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8FF3E"/>
                </a:solidFill>
                <a:latin typeface="Consolas"/>
              </a:rPr>
              <a:t>FIVE RESULT BANDS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60604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8FF3E"/>
                </a:solidFill>
                <a:latin typeface="Consolas"/>
              </a:rPr>
              <a:t>90+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60604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Lunar Leader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6060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BECC"/>
                </a:solidFill>
                <a:latin typeface="Calibri"/>
              </a:rPr>
              <a:t>Flag in the ground.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320040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8FF3E"/>
                </a:solidFill>
                <a:latin typeface="Consolas"/>
              </a:rPr>
              <a:t>75+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2004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Orbit Builder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32004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BECC"/>
                </a:solidFill>
                <a:latin typeface="Calibri"/>
              </a:rPr>
              <a:t>Fundamentals locked.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379476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8FF3E"/>
                </a:solidFill>
                <a:latin typeface="Consolas"/>
              </a:rPr>
              <a:t>60+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79476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Liftoff Stage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7947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BECC"/>
                </a:solidFill>
                <a:latin typeface="Calibri"/>
              </a:rPr>
              <a:t>Visible in search, invisible in AI.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438912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8FF3E"/>
                </a:solidFill>
                <a:latin typeface="Consolas"/>
              </a:rPr>
              <a:t>40+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3891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Pre-Launch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43891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BECC"/>
                </a:solidFill>
                <a:latin typeface="Calibri"/>
              </a:rPr>
              <a:t>Engines not fired yet.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498348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8FF3E"/>
                </a:solidFill>
                <a:latin typeface="Consolas"/>
              </a:rPr>
              <a:t>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9834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Grounded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49834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BECC"/>
                </a:solidFill>
                <a:latin typeface="Calibri"/>
              </a:rPr>
              <a:t>Not in the game yet.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386"/>
                </a:solidFill>
                <a:latin typeface="Consolas"/>
              </a:rPr>
              <a:t>A3 BRANDS · GALAXY VISIBILITY DIAGNOSTIC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386"/>
                </a:solidFill>
                <a:latin typeface="Consolas"/>
              </a:rPr>
              <a:t>saggy score · seo · aeo · geo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8FF3E"/>
                </a:solidFill>
                <a:latin typeface="Consolas"/>
              </a:rPr>
              <a:t>READY?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Find out exactly where you're leaking leads.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B8BECC"/>
                </a:solidFill>
                <a:latin typeface="Calibri"/>
              </a:rPr>
              <a:t>10 questions in Saggy’s voice. Under 90 seconds. One score out of 100.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4023360"/>
            <a:ext cx="4114800" cy="777240"/>
          </a:xfrm>
          <a:prstGeom prst="roundRect">
            <a:avLst>
              <a:gd name="adj" fmla="val 50000"/>
            </a:avLst>
          </a:prstGeom>
          <a:solidFill>
            <a:srgbClr val="C8F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bIns="91440"/>
          <a:lstStyle/>
          <a:p>
            <a:pPr algn="ctr"/>
            <a:r>
              <a:rPr sz="2000" b="1">
                <a:solidFill>
                  <a:srgbClr val="0A0F1F"/>
                </a:solidFill>
                <a:latin typeface="Calibri"/>
              </a:rPr>
              <a:t>Book My Strategy Call 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B7386"/>
                </a:solidFill>
                <a:latin typeface="Consolas"/>
              </a:rPr>
              <a:t>a3brands.com  ·  Galaxy Visibility Diagnostic</a:t>
            </a:r>
          </a:p>
        </p:txBody>
      </p:sp>
      <p:pic>
        <p:nvPicPr>
          <p:cNvPr id="8" name="Picture 7" descr="head sag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2743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386"/>
                </a:solidFill>
                <a:latin typeface="Consolas"/>
              </a:rPr>
              <a:t>A3 BRANDS · GALAXY VISIBILITY DIAGNOSTIC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386"/>
                </a:solidFill>
                <a:latin typeface="Consolas"/>
              </a:rPr>
              <a:t>saggy score · seo · aeo · geo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